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charts/chart1.xml" ContentType="application/vnd.openxmlformats-officedocument.drawingml.chart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charts/chart2.xml" ContentType="application/vnd.openxmlformats-officedocument.drawingml.chart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notesMasterIdLst>
    <p:notesMasterId r:id="rId2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notesMaster" Target="notesMasters/notesMaster1.xml"/><Relationship Id="rId24" Type="http://schemas.openxmlformats.org/officeDocument/2006/relationships/presProps" Target="presProps.xml"/><Relationship Id="rId25" Type="http://schemas.openxmlformats.org/officeDocument/2006/relationships/viewProps" Target="viewProps.xml"/><Relationship Id="rId26" Type="http://schemas.openxmlformats.org/officeDocument/2006/relationships/theme" Target="theme/theme1.xml"/><Relationship Id="rId27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6B7682"/>
                </a:solidFill>
                <a:latin typeface="Arial"/>
              </a:defRPr>
            </a:pPr>
            <a:r>
              <a:rPr sz="1300" b="0" i="0" u="none" strike="noStrike">
                <a:solidFill>
                  <a:srgbClr val="6B7682"/>
                </a:solidFill>
                <a:latin typeface="Arial"/>
              </a:rPr>
              <a:t>Grouped, time-aware CV (5 repeats)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PR-AUC (CV mean)</c:v>
                </c:pt>
              </c:strCache>
            </c:strRef>
          </c:tx>
          <c:spPr>
            <a:solidFill>
              <a:srgbClr val="1B2430"/>
            </a:solidFill>
            <a:effectLst/>
          </c:spPr>
          <c:invertIfNegative val="0"/>
          <c:dLbls>
            <c:numFmt formatCode="0.00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B243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Age only</c:v>
                  </c:pt>
                  <c:pt idx="1">
                    <c:v>Health-index rule</c:v>
                  </c:pt>
                  <c:pt idx="2">
                    <c:v>LR + median (chosen)</c:v>
                  </c:pt>
                  <c:pt idx="3">
                    <c:v>LR + missing flags</c:v>
                  </c:pt>
                  <c:pt idx="4">
                    <c:v>Boosting, native NaN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0.105</c:v>
                </c:pt>
                <c:pt idx="1">
                  <c:v>0.06</c:v>
                </c:pt>
                <c:pt idx="2">
                  <c:v>0.082</c:v>
                </c:pt>
                <c:pt idx="3">
                  <c:v>0.079</c:v>
                </c:pt>
                <c:pt idx="4">
                  <c:v>0.072</c:v>
                </c:pt>
              </c:numCache>
            </c:numRef>
          </c:val>
        </c:ser>
        <c:dLbls>
          <c:numFmt formatCode="0.000" sourceLinked="0"/>
          <c:txPr>
            <a:bodyPr/>
            <a:lstStyle/>
            <a:p>
              <a:pPr>
                <a:defRPr b="0" i="0" strike="noStrike" sz="1200" u="none">
                  <a:solidFill>
                    <a:srgbClr val="1B243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A4552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6B7682"/>
                </a:solidFill>
                <a:latin typeface="Arial"/>
              </a:defRPr>
            </a:pPr>
            <a:r>
              <a:rPr sz="1300" b="0" i="0" u="none" strike="noStrike">
                <a:solidFill>
                  <a:srgbClr val="6B7682"/>
                </a:solidFill>
                <a:latin typeface="Arial"/>
              </a:rPr>
              <a:t>Fleet risk removed at a 5M budget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Fleet risk removed</c:v>
                </c:pt>
              </c:strCache>
            </c:strRef>
          </c:tx>
          <c:spPr>
            <a:solidFill>
              <a:srgbClr val="F2A900"/>
            </a:solidFill>
            <a:effectLst/>
          </c:spPr>
          <c:invertIfNegative val="0"/>
          <c:dLbls>
            <c:numFmt formatCode="0.0&quot;%&quot;" sourceLinked="0"/>
            <c:txPr>
              <a:bodyPr/>
              <a:lstStyle/>
              <a:p>
                <a:pPr>
                  <a:defRPr b="0" i="0" strike="noStrike" sz="1600" u="none">
                    <a:solidFill>
                      <a:srgbClr val="1B243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Our plan: 7 replacements</c:v>
                  </c:pt>
                  <c:pt idx="1">
                    <c:v>Replace oldest: 15 units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20.9</c:v>
                </c:pt>
                <c:pt idx="1">
                  <c:v>5.6</c:v>
                </c:pt>
              </c:numCache>
            </c:numRef>
          </c:val>
        </c:ser>
        <c:dLbls>
          <c:numFmt formatCode="0.0&quot;%&quot;" sourceLinked="0"/>
          <c:txPr>
            <a:bodyPr/>
            <a:lstStyle/>
            <a:p>
              <a:pPr>
                <a:defRPr b="0" i="0" strike="noStrike" sz="1600" u="none">
                  <a:solidFill>
                    <a:srgbClr val="1B243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A4552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One line: a utility can afford to fix only a few transformers a year. We predict each one's chance of failing in the next 12 months, weigh it by who loses power, and choose replace/inspect actions within the budget, with a reason for each.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Stress the rarity: 138 positive rows out of 3,200 labelled snapshot rows. That shapes every modelling choice: PR-AUC not accuracy, simple models, repeated validation.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Keep it qualitative; don't quote numbers you can't source. The point: every utility makes this ranking decision yearly, usually by age or rules of thumb. The PoF x CoF structure matches established risk-based asset management practice (ISO 55000; the UK DNOs' Common Network Asset Indices Methodology uses probability and consequence of failure).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These six map one-to-one to the capabilities table in the HCL guide (section 2.1).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Say: raw → cleaned → business-ready. Re-runnable: silver and gold are rebuilt in full, two runs give identical tables. Gold written in one transaction (tables created empty first: pandas' CREATE TABLE escapes the transaction).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Gas, load and temperature are non-additive measures (average or max, never sum). is_failure is additive (sum = number of failures).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Honest detail if asked: build_features() reads the silver tables, not fact_oil_test / fact_operation, so training and the API compute features identically on fresh data.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Why quarterly: oil tests come every 6–12 months, so monthly rows would be near-duplicates and yearly would give too few rows. One shared function, build_features(), is used for training and the API.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All filling and scaling sit inside a scikit-learn Pipeline, fitted on training rows only (HCL Annex A). class_weight='balanced' for rare failures; calibration repairs the distorted probabilities. Every configuration logged to reports/experiments.csv.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HCL: 'a complex model must earn its place'. Say it plainly. The held-out set has only 9 failures, so its numbers are very noisy.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Costs are our assumptions (the panel told us to assume them): replace 150k/350k/700k, inspect 10k/15k/25k by size; budget 5M. Inspection is ~23x cheaper, so a fixed % value would inspect everything; tying it to uncertainty sends inspections where they tell us something.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slide answers 'did you act on feedback?'. Demo it live on UI screen 4.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Validation output: reports/validation_output.txt: 5 duplicate assets removed, 6 duplicate rows, 3 ppb tests converted, 282 gaps left NULL, 9/9 checks pass.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Demo order: 1 → 2 (a tested unit, then an untested one) → 3 (5M, then 4M) → 4 (rehearsal file) → 5. Reset on screen 4 before presenting.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Every commit was made by a team member by hand. The written team contract (docs/team/SHARED_CONTRACT.md) is what every AI session followed.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Docker was in the HCL stack; the panel confirmed it is optional, so we removed it and pinned exact versions instead.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Features are set-based SQL with window functions: cost grows linearly with transformers × quarters, and the same SQL runs inside Postgres.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business path, not the technical one (previous slide). Key message: the pilot proves value on the customer's OWN past failures before anything is sold; the same architecture then repeats per asset class and per utility.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Lead with 1 and 2: they answer the honest model result.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If asked about any row: state what we chose, what we rejected, and the one-line reason.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on the three ideas: leakage-safe grain, honest uncertainty, human approval.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620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960120"/>
            <a:ext cx="822960" cy="822960"/>
          </a:xfrm>
          <a:prstGeom prst="ellipse">
            <a:avLst/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96012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16202B"/>
                </a:solidFill>
              </a:rPr>
              <a:t>⚡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731520" y="2011680"/>
            <a:ext cx="105156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Transformer Fleet Health</a:t>
            </a:r>
            <a:endParaRPr lang="en-US" sz="4600" dirty="0"/>
          </a:p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&amp; Replacement Planning</a:t>
            </a:r>
            <a:endParaRPr lang="en-US" sz="4600" dirty="0"/>
          </a:p>
        </p:txBody>
      </p:sp>
      <p:sp>
        <p:nvSpPr>
          <p:cNvPr id="5" name="Text 3"/>
          <p:cNvSpPr/>
          <p:nvPr/>
        </p:nvSpPr>
        <p:spPr>
          <a:xfrm>
            <a:off x="731520" y="379476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F2A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transformers to replace or inspect within the budget, and why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5760720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EB7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Rayquaza  ·  HCLTech Future Ready AI Engineer Hackathon  ·  Data Science &amp; ML edition  ·  11 Oct 2026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566928" cy="566928"/>
          </a:xfrm>
          <a:prstGeom prst="ellipse">
            <a:avLst/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8404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620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234440" y="292608"/>
            <a:ext cx="10424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problem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1234440" y="841248"/>
            <a:ext cx="10424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6B76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utility can afford to fix only a few transformers a year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48640" y="1508760"/>
            <a:ext cx="585216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3A45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~400 power transformers. A failure can cut power to a hospital or a village and costs far more than a planned replacement.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3A45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Oil tests (gases dissolved in the oil) are the best health signal, but many units have never been tested.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3A45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Failures are rare, so a model that says "nothing fails" looks accurate and is useless.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48640" y="4160520"/>
            <a:ext cx="5852160" cy="2011680"/>
          </a:xfrm>
          <a:prstGeom prst="roundRect">
            <a:avLst>
              <a:gd name="adj" fmla="val 3636"/>
            </a:avLst>
          </a:prstGeom>
          <a:solidFill>
            <a:srgbClr val="F1F3F6"/>
          </a:solidFill>
          <a:ln w="12700">
            <a:solidFill>
              <a:srgbClr val="F1F3F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4288536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 and decision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731520" y="4672584"/>
            <a:ext cx="5486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A45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asset-planning engineer. With this year's budget: which transformers to replace, which to inspect, which to leave, backed by probabilities they can trust and a reason for every choice.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949440" y="1508760"/>
            <a:ext cx="4663440" cy="1371600"/>
          </a:xfrm>
          <a:prstGeom prst="roundRect">
            <a:avLst>
              <a:gd name="adj" fmla="val 5333"/>
            </a:avLst>
          </a:prstGeom>
          <a:solidFill>
            <a:srgbClr val="F1F3F6"/>
          </a:solidFill>
          <a:ln w="12700">
            <a:solidFill>
              <a:srgbClr val="F1F3F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178040" y="1508760"/>
            <a:ext cx="21031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400</a:t>
            </a:r>
            <a:endParaRPr lang="en-US" sz="4800" dirty="0"/>
          </a:p>
        </p:txBody>
      </p:sp>
      <p:sp>
        <p:nvSpPr>
          <p:cNvPr id="12" name="Text 10"/>
          <p:cNvSpPr/>
          <p:nvPr/>
        </p:nvSpPr>
        <p:spPr>
          <a:xfrm>
            <a:off x="9281160" y="1508760"/>
            <a:ext cx="21945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A45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transformers in the fleet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949440" y="3108960"/>
            <a:ext cx="4663440" cy="1371600"/>
          </a:xfrm>
          <a:prstGeom prst="roundRect">
            <a:avLst>
              <a:gd name="adj" fmla="val 5333"/>
            </a:avLst>
          </a:prstGeom>
          <a:solidFill>
            <a:srgbClr val="F1F3F6"/>
          </a:solidFill>
          <a:ln w="12700">
            <a:solidFill>
              <a:srgbClr val="F1F3F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178040" y="3108960"/>
            <a:ext cx="21031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38%</a:t>
            </a:r>
            <a:endParaRPr lang="en-US" sz="4800" dirty="0"/>
          </a:p>
        </p:txBody>
      </p:sp>
      <p:sp>
        <p:nvSpPr>
          <p:cNvPr id="15" name="Text 13"/>
          <p:cNvSpPr/>
          <p:nvPr/>
        </p:nvSpPr>
        <p:spPr>
          <a:xfrm>
            <a:off x="9281160" y="3108960"/>
            <a:ext cx="21945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A45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oil-tested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6949440" y="4709160"/>
            <a:ext cx="4663440" cy="1371600"/>
          </a:xfrm>
          <a:prstGeom prst="roundRect">
            <a:avLst>
              <a:gd name="adj" fmla="val 5333"/>
            </a:avLst>
          </a:prstGeom>
          <a:solidFill>
            <a:srgbClr val="FFF4D6"/>
          </a:solidFill>
          <a:ln w="12700">
            <a:solidFill>
              <a:srgbClr val="FFF4D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178040" y="4709160"/>
            <a:ext cx="21031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4.3%</a:t>
            </a:r>
            <a:endParaRPr lang="en-US" sz="4800" dirty="0"/>
          </a:p>
        </p:txBody>
      </p:sp>
      <p:sp>
        <p:nvSpPr>
          <p:cNvPr id="18" name="Text 16"/>
          <p:cNvSpPr/>
          <p:nvPr/>
        </p:nvSpPr>
        <p:spPr>
          <a:xfrm>
            <a:off x="9281160" y="4709160"/>
            <a:ext cx="21945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A45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snapshots fail within 12 months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566928" cy="566928"/>
          </a:xfrm>
          <a:prstGeom prst="ellipse">
            <a:avLst/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8404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620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234440" y="292608"/>
            <a:ext cx="10424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 this a real problem? Yes: industry relevance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1234440" y="841248"/>
            <a:ext cx="10424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6B76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grid operator faces this decision every year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48640" y="1536192"/>
            <a:ext cx="502920" cy="502920"/>
          </a:xfrm>
          <a:prstGeom prst="ellipse">
            <a:avLst/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53619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620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234440" y="1463040"/>
            <a:ext cx="5486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Ageing fleets, fixed budgets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234440" y="1847088"/>
            <a:ext cx="5486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A45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Much of the installed transformer base is decades old, and utilities can replace only a small share each year. Choosing which ones is the core asset-management decision.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48640" y="2752344"/>
            <a:ext cx="502920" cy="502920"/>
          </a:xfrm>
          <a:prstGeom prst="ellipse">
            <a:avLst/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275234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620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234440" y="2679192"/>
            <a:ext cx="5486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Failures are expensive and slow to fix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234440" y="3063240"/>
            <a:ext cx="5486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A45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unplanned failure means emergency replacement, outage penalties and lost supply. New large units can take many months to arrive, so replacements must be planned ahead.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48640" y="3968496"/>
            <a:ext cx="502920" cy="502920"/>
          </a:xfrm>
          <a:prstGeom prst="ellipse">
            <a:avLst/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8640" y="396849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620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1234440" y="3895344"/>
            <a:ext cx="5486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Who loses power matters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234440" y="4279392"/>
            <a:ext cx="5486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A45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hospital, an industrial site and a village feeder are not equal. Planning has to weigh consequence, not just condition.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548640" y="5184648"/>
            <a:ext cx="502920" cy="502920"/>
          </a:xfrm>
          <a:prstGeom prst="ellipse">
            <a:avLst/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48640" y="518464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620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234440" y="5111496"/>
            <a:ext cx="5486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Condition data is sparse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234440" y="5495544"/>
            <a:ext cx="5486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A45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Oil tests (dissolved-gas analysis, the industry-standard health check: IEEE C57.104 / IEC 60599) are sampled, not continuous, and many units have never been tested.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7086600" y="1463040"/>
            <a:ext cx="4526280" cy="2971800"/>
          </a:xfrm>
          <a:prstGeom prst="roundRect">
            <a:avLst>
              <a:gd name="adj" fmla="val 3077"/>
            </a:avLst>
          </a:prstGeom>
          <a:solidFill>
            <a:srgbClr val="16202B"/>
          </a:solidFill>
          <a:ln w="12700">
            <a:solidFill>
              <a:srgbClr val="16202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315200" y="164592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2A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 formula is the industry's formula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7315200" y="2148840"/>
            <a:ext cx="4114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 = probability of failure</a:t>
            </a:r>
            <a:endParaRPr lang="en-US" sz="2000" dirty="0"/>
          </a:p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 consequence of failure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7315200" y="3108960"/>
            <a:ext cx="41148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D7DE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Risk-based asset management (ISO 55000) and regulator methods such as the UK's network asset risk methodology rank assets the same way. We add calibrated probabilities, honest uncertainty and a budget optimiser.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7086600" y="4617720"/>
            <a:ext cx="4526280" cy="1600200"/>
          </a:xfrm>
          <a:prstGeom prst="roundRect">
            <a:avLst>
              <a:gd name="adj" fmla="val 4571"/>
            </a:avLst>
          </a:prstGeom>
          <a:solidFill>
            <a:srgbClr val="FFF4D6"/>
          </a:solidFill>
          <a:ln w="12700">
            <a:solidFill>
              <a:srgbClr val="FFF4D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269480" y="4745736"/>
            <a:ext cx="4160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Who has this problem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7269480" y="5129784"/>
            <a:ext cx="41605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3A45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Distribution and transmission utilities, industrial plants, data centres, railways, renewable-energy substations, large campuses and hospitals.</a:t>
            </a:r>
            <a:endParaRPr lang="en-US" sz="13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566928" cy="566928"/>
          </a:xfrm>
          <a:prstGeom prst="ellipse">
            <a:avLst/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8404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620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234440" y="292608"/>
            <a:ext cx="10424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the system delivers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1234440" y="841248"/>
            <a:ext cx="10424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6B76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number comes from code; every recommendation has a reason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48640" y="1508760"/>
            <a:ext cx="3520440" cy="2286000"/>
          </a:xfrm>
          <a:prstGeom prst="roundRect">
            <a:avLst>
              <a:gd name="adj" fmla="val 3200"/>
            </a:avLst>
          </a:prstGeom>
          <a:solidFill>
            <a:srgbClr val="F1F3F6"/>
          </a:solidFill>
          <a:ln w="12700">
            <a:solidFill>
              <a:srgbClr val="F1F3F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1636776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Failure probability + range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731520" y="2020824"/>
            <a:ext cx="31546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dirty="0">
                <a:solidFill>
                  <a:srgbClr val="3A45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"TR-0102: 19% chance of failing in 12 months (likely 12–28%)". Calibrated, wider when we know less.</a:t>
            </a:r>
            <a:endParaRPr lang="en-US" sz="1550" dirty="0"/>
          </a:p>
        </p:txBody>
      </p:sp>
      <p:sp>
        <p:nvSpPr>
          <p:cNvPr id="9" name="Shape 7"/>
          <p:cNvSpPr/>
          <p:nvPr/>
        </p:nvSpPr>
        <p:spPr>
          <a:xfrm>
            <a:off x="4297680" y="1508760"/>
            <a:ext cx="3520440" cy="2286000"/>
          </a:xfrm>
          <a:prstGeom prst="roundRect">
            <a:avLst>
              <a:gd name="adj" fmla="val 3200"/>
            </a:avLst>
          </a:prstGeom>
          <a:solidFill>
            <a:srgbClr val="F1F3F6"/>
          </a:solidFill>
          <a:ln w="12700">
            <a:solidFill>
              <a:srgbClr val="F1F3F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480560" y="1636776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 score per field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4480560" y="2020824"/>
            <a:ext cx="31546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dirty="0">
                <a:solidFill>
                  <a:srgbClr val="3A45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 minus points for gas condition (IEEE C57.104 levels), gas trend, peak load and age. Blank, never "healthy", without an oil test.</a:t>
            </a:r>
            <a:endParaRPr lang="en-US" sz="1550" dirty="0"/>
          </a:p>
        </p:txBody>
      </p:sp>
      <p:sp>
        <p:nvSpPr>
          <p:cNvPr id="12" name="Shape 10"/>
          <p:cNvSpPr/>
          <p:nvPr/>
        </p:nvSpPr>
        <p:spPr>
          <a:xfrm>
            <a:off x="8046720" y="1508760"/>
            <a:ext cx="3520440" cy="2286000"/>
          </a:xfrm>
          <a:prstGeom prst="roundRect">
            <a:avLst>
              <a:gd name="adj" fmla="val 3200"/>
            </a:avLst>
          </a:prstGeom>
          <a:solidFill>
            <a:srgbClr val="F1F3F6"/>
          </a:solidFill>
          <a:ln w="12700">
            <a:solidFill>
              <a:srgbClr val="F1F3F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29600" y="1636776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 ranking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8229600" y="2020824"/>
            <a:ext cx="31546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dirty="0">
                <a:solidFill>
                  <a:srgbClr val="3A45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= probability × impact (hospital 5, industry 3, urban 2, rural 1, × customers served), with top factors per unit.</a:t>
            </a:r>
            <a:endParaRPr lang="en-US" sz="1550" dirty="0"/>
          </a:p>
        </p:txBody>
      </p:sp>
      <p:sp>
        <p:nvSpPr>
          <p:cNvPr id="15" name="Shape 13"/>
          <p:cNvSpPr/>
          <p:nvPr/>
        </p:nvSpPr>
        <p:spPr>
          <a:xfrm>
            <a:off x="548640" y="4023360"/>
            <a:ext cx="3520440" cy="2286000"/>
          </a:xfrm>
          <a:prstGeom prst="roundRect">
            <a:avLst>
              <a:gd name="adj" fmla="val 3200"/>
            </a:avLst>
          </a:prstGeom>
          <a:solidFill>
            <a:srgbClr val="F1F3F6"/>
          </a:solidFill>
          <a:ln w="12700">
            <a:solidFill>
              <a:srgbClr val="F1F3F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31520" y="4151376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Budget plan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731520" y="4535424"/>
            <a:ext cx="31546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dirty="0">
                <a:solidFill>
                  <a:srgbClr val="3A45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Knapsack picks replace / inspect / nothing within budget, compared with "replace the oldest". Every action needs approval.</a:t>
            </a:r>
            <a:endParaRPr lang="en-US" sz="1550" dirty="0"/>
          </a:p>
        </p:txBody>
      </p:sp>
      <p:sp>
        <p:nvSpPr>
          <p:cNvPr id="18" name="Shape 16"/>
          <p:cNvSpPr/>
          <p:nvPr/>
        </p:nvSpPr>
        <p:spPr>
          <a:xfrm>
            <a:off x="4297680" y="4023360"/>
            <a:ext cx="3520440" cy="2286000"/>
          </a:xfrm>
          <a:prstGeom prst="roundRect">
            <a:avLst>
              <a:gd name="adj" fmla="val 3200"/>
            </a:avLst>
          </a:prstGeom>
          <a:solidFill>
            <a:srgbClr val="F1F3F6"/>
          </a:solidFill>
          <a:ln w="12700">
            <a:solidFill>
              <a:srgbClr val="F1F3F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480560" y="4151376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Honest about missing data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4480560" y="4535424"/>
            <a:ext cx="31546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dirty="0">
                <a:solidFill>
                  <a:srgbClr val="3A45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Untested units: scored_low_confidence, wide range, inspect before any replacement.</a:t>
            </a:r>
            <a:endParaRPr lang="en-US" sz="1550" dirty="0"/>
          </a:p>
        </p:txBody>
      </p:sp>
      <p:sp>
        <p:nvSpPr>
          <p:cNvPr id="21" name="Shape 19"/>
          <p:cNvSpPr/>
          <p:nvPr/>
        </p:nvSpPr>
        <p:spPr>
          <a:xfrm>
            <a:off x="8046720" y="4023360"/>
            <a:ext cx="3520440" cy="2286000"/>
          </a:xfrm>
          <a:prstGeom prst="roundRect">
            <a:avLst>
              <a:gd name="adj" fmla="val 3200"/>
            </a:avLst>
          </a:prstGeom>
          <a:solidFill>
            <a:srgbClr val="F1F3F6"/>
          </a:solidFill>
          <a:ln w="12700">
            <a:solidFill>
              <a:srgbClr val="F1F3F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229600" y="4151376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 data → new plan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8229600" y="4535424"/>
            <a:ext cx="31546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dirty="0">
                <a:solidFill>
                  <a:srgbClr val="3A45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a CSV (e.g. inspection results): validate → rebuild → re-score → re-plan → before/after comparison.</a:t>
            </a:r>
            <a:endParaRPr lang="en-US" sz="15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566928" cy="566928"/>
          </a:xfrm>
          <a:prstGeom prst="ellipse">
            <a:avLst/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8404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620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234440" y="292608"/>
            <a:ext cx="10424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Architecture: the medallion pipeline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1234440" y="841248"/>
            <a:ext cx="10424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6B76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→ cleaned → business-ready · one command rebuilds everything in ~3 s: python -m src.pipeline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48640" y="1600200"/>
            <a:ext cx="1691640" cy="1737360"/>
          </a:xfrm>
          <a:prstGeom prst="roundRect">
            <a:avLst>
              <a:gd name="adj" fmla="val 5405"/>
            </a:avLst>
          </a:prstGeom>
          <a:solidFill>
            <a:srgbClr val="F1F3F6"/>
          </a:solidFill>
          <a:ln w="12700">
            <a:solidFill>
              <a:srgbClr val="F1F3F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737360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621792" y="2194560"/>
            <a:ext cx="1545336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CSVs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(Annex B)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2221992" y="2286000"/>
            <a:ext cx="2834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2A900"/>
                </a:solidFill>
              </a:rPr>
              <a:t>►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2487168" y="1600200"/>
            <a:ext cx="1691640" cy="1737360"/>
          </a:xfrm>
          <a:prstGeom prst="roundRect">
            <a:avLst>
              <a:gd name="adj" fmla="val 5405"/>
            </a:avLst>
          </a:prstGeom>
          <a:solidFill>
            <a:srgbClr val="A9713A"/>
          </a:solidFill>
          <a:ln w="12700">
            <a:solidFill>
              <a:srgbClr val="A9713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487168" y="1737360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Bronze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2560320" y="2194560"/>
            <a:ext cx="1545336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raw, as received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_ingested_at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_source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4160520" y="2286000"/>
            <a:ext cx="2834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2A900"/>
                </a:solidFill>
              </a:rPr>
              <a:t>►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425696" y="1600200"/>
            <a:ext cx="1691640" cy="1737360"/>
          </a:xfrm>
          <a:prstGeom prst="roundRect">
            <a:avLst>
              <a:gd name="adj" fmla="val 5405"/>
            </a:avLst>
          </a:prstGeom>
          <a:solidFill>
            <a:srgbClr val="7D8893"/>
          </a:solidFill>
          <a:ln w="12700">
            <a:solidFill>
              <a:srgbClr val="7D889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425696" y="1737360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Silver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4498848" y="2194560"/>
            <a:ext cx="1545336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cleaned, typed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row per key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checks before write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6099048" y="2286000"/>
            <a:ext cx="2834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2A900"/>
                </a:solidFill>
              </a:rPr>
              <a:t>►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6364224" y="1600200"/>
            <a:ext cx="1691640" cy="1737360"/>
          </a:xfrm>
          <a:prstGeom prst="roundRect">
            <a:avLst>
              <a:gd name="adj" fmla="val 5405"/>
            </a:avLst>
          </a:prstGeom>
          <a:solidFill>
            <a:srgbClr val="B8901C"/>
          </a:solidFill>
          <a:ln w="12700">
            <a:solidFill>
              <a:srgbClr val="B8901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364224" y="1737360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Gold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6437376" y="2194560"/>
            <a:ext cx="1545336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 schema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dimensions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facts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037576" y="2286000"/>
            <a:ext cx="2834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2A900"/>
                </a:solidFill>
              </a:rPr>
              <a:t>►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8302752" y="1600200"/>
            <a:ext cx="1691640" cy="1737360"/>
          </a:xfrm>
          <a:prstGeom prst="roundRect">
            <a:avLst>
              <a:gd name="adj" fmla="val 5405"/>
            </a:avLst>
          </a:prstGeom>
          <a:solidFill>
            <a:srgbClr val="1B2430"/>
          </a:solidFill>
          <a:ln w="12700">
            <a:solidFill>
              <a:srgbClr val="1B243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302752" y="1737360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 + plan</a:t>
            </a:r>
            <a:endParaRPr lang="en-US" sz="1700" dirty="0"/>
          </a:p>
        </p:txBody>
      </p:sp>
      <p:sp>
        <p:nvSpPr>
          <p:cNvPr id="24" name="Text 22"/>
          <p:cNvSpPr/>
          <p:nvPr/>
        </p:nvSpPr>
        <p:spPr>
          <a:xfrm>
            <a:off x="8375904" y="2194560"/>
            <a:ext cx="1545336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score, risk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knapsack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9976104" y="2286000"/>
            <a:ext cx="2834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2A900"/>
                </a:solidFill>
              </a:rPr>
              <a:t>►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10241280" y="1600200"/>
            <a:ext cx="1691640" cy="1737360"/>
          </a:xfrm>
          <a:prstGeom prst="roundRect">
            <a:avLst>
              <a:gd name="adj" fmla="val 5405"/>
            </a:avLst>
          </a:prstGeom>
          <a:solidFill>
            <a:srgbClr val="16202B"/>
          </a:solidFill>
          <a:ln w="12700">
            <a:solidFill>
              <a:srgbClr val="16202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0241280" y="1737360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2A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 + UI</a:t>
            </a:r>
            <a:endParaRPr lang="en-US" sz="1700" dirty="0"/>
          </a:p>
        </p:txBody>
      </p:sp>
      <p:sp>
        <p:nvSpPr>
          <p:cNvPr id="28" name="Text 26"/>
          <p:cNvSpPr/>
          <p:nvPr/>
        </p:nvSpPr>
        <p:spPr>
          <a:xfrm>
            <a:off x="10314432" y="2194560"/>
            <a:ext cx="1545336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dirty="0">
                <a:solidFill>
                  <a:srgbClr val="F2A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dirty="0">
                <a:solidFill>
                  <a:srgbClr val="F2A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</a:t>
            </a:r>
            <a:endParaRPr lang="en-US" sz="1250" dirty="0"/>
          </a:p>
        </p:txBody>
      </p:sp>
      <p:sp>
        <p:nvSpPr>
          <p:cNvPr id="29" name="Shape 27"/>
          <p:cNvSpPr/>
          <p:nvPr/>
        </p:nvSpPr>
        <p:spPr>
          <a:xfrm>
            <a:off x="548640" y="3703320"/>
            <a:ext cx="3520440" cy="2514600"/>
          </a:xfrm>
          <a:prstGeom prst="roundRect">
            <a:avLst>
              <a:gd name="adj" fmla="val 2909"/>
            </a:avLst>
          </a:prstGeom>
          <a:solidFill>
            <a:srgbClr val="F1F3F6"/>
          </a:solidFill>
          <a:ln w="12700">
            <a:solidFill>
              <a:srgbClr val="F1F3F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31520" y="3831336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Bronze = the replay tape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731520" y="4215384"/>
            <a:ext cx="315468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A45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file kept exactly as received, including what /ingest saved. A bug later is fixed and re-run without the source. Audit trail of what arrived when.</a:t>
            </a:r>
            <a:endParaRPr lang="en-US" sz="1500" dirty="0"/>
          </a:p>
        </p:txBody>
      </p:sp>
      <p:sp>
        <p:nvSpPr>
          <p:cNvPr id="32" name="Shape 30"/>
          <p:cNvSpPr/>
          <p:nvPr/>
        </p:nvSpPr>
        <p:spPr>
          <a:xfrm>
            <a:off x="4297680" y="3703320"/>
            <a:ext cx="3520440" cy="2514600"/>
          </a:xfrm>
          <a:prstGeom prst="roundRect">
            <a:avLst>
              <a:gd name="adj" fmla="val 2909"/>
            </a:avLst>
          </a:prstGeom>
          <a:solidFill>
            <a:srgbClr val="F1F3F6"/>
          </a:solidFill>
          <a:ln w="12700">
            <a:solidFill>
              <a:srgbClr val="F1F3F6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480560" y="3831336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Silver = one place for quality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4480560" y="4215384"/>
            <a:ext cx="315468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A45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IDs tidied, duplicates removed, ppb→ppm fixed, gaps left NULL. 9 HCL checks run BEFORE anything is written: bad data stops the run.</a:t>
            </a:r>
            <a:endParaRPr lang="en-US" sz="1500" dirty="0"/>
          </a:p>
        </p:txBody>
      </p:sp>
      <p:sp>
        <p:nvSpPr>
          <p:cNvPr id="35" name="Shape 33"/>
          <p:cNvSpPr/>
          <p:nvPr/>
        </p:nvSpPr>
        <p:spPr>
          <a:xfrm>
            <a:off x="8046720" y="3703320"/>
            <a:ext cx="3520440" cy="2514600"/>
          </a:xfrm>
          <a:prstGeom prst="roundRect">
            <a:avLst>
              <a:gd name="adj" fmla="val 2909"/>
            </a:avLst>
          </a:prstGeom>
          <a:solidFill>
            <a:srgbClr val="F1F3F6"/>
          </a:solidFill>
          <a:ln w="12700">
            <a:solidFill>
              <a:srgbClr val="F1F3F6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8229600" y="3831336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Gold = shaped for reading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8229600" y="4215384"/>
            <a:ext cx="315468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A45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 schema with shared dimensions. fact_snapshot is the single, leakage-safe input for the model AND the API: one function builds features for both.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566928" cy="566928"/>
          </a:xfrm>
          <a:prstGeom prst="ellipse">
            <a:avLst/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8404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620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234440" y="292608"/>
            <a:ext cx="10424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 schema: 4 shared dimensions, 5 fact tables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1234440" y="841248"/>
            <a:ext cx="10424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6B76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Conformed dimensions: every fact can be sliced the same way</a:t>
            </a:r>
            <a:endParaRPr lang="en-US" sz="15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1106424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1554480"/>
                <a:gridCol w="1188720"/>
                <a:gridCol w="1097280"/>
                <a:gridCol w="1188720"/>
                <a:gridCol w="329184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Fact table  ↓   /   Dimension  →</a:t>
                      </a:r>
                      <a:endParaRPr lang="en-US" sz="13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4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dim_transformer</a:t>
                      </a:r>
                      <a:endParaRPr lang="en-US" sz="13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4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dim_date</a:t>
                      </a:r>
                      <a:endParaRPr lang="en-US" sz="13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4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dim_run</a:t>
                      </a:r>
                      <a:endParaRPr lang="en-US" sz="13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4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dim_action</a:t>
                      </a:r>
                      <a:endParaRPr lang="en-US" sz="13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4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Grain: one row =</a:t>
                      </a:r>
                      <a:endParaRPr lang="en-US" sz="13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430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A45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fact_oil_test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A45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✔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A45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✔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A45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one transformer × one oil test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A45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fact_operation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A45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✔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A45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✔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A45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one transformer × one month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A45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fact_snapshot  (model input)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A45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✔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A45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✔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A45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one transformer × one quarterly snapshot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A45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fact_risk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A45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✔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A45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✔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A45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✔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A45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one scoring run × one transformer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A45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fact_plan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A45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✔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A45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✔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A45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✔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A45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✔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A45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one plan × one chosen action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548640" y="4343400"/>
            <a:ext cx="3520440" cy="1874520"/>
          </a:xfrm>
          <a:prstGeom prst="roundRect">
            <a:avLst>
              <a:gd name="adj" fmla="val 3902"/>
            </a:avLst>
          </a:prstGeom>
          <a:solidFill>
            <a:srgbClr val="F1F3F6"/>
          </a:solidFill>
          <a:ln w="12700">
            <a:solidFill>
              <a:srgbClr val="F1F3F6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31520" y="4471416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Star, not snowflake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731520" y="4855464"/>
            <a:ext cx="31546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3A45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Customer-type weight lives inside dim_transformer: one join fewer, a little repetition accepted.</a:t>
            </a:r>
            <a:endParaRPr lang="en-US" sz="1350" dirty="0"/>
          </a:p>
        </p:txBody>
      </p:sp>
      <p:sp>
        <p:nvSpPr>
          <p:cNvPr id="10" name="Shape 7"/>
          <p:cNvSpPr/>
          <p:nvPr/>
        </p:nvSpPr>
        <p:spPr>
          <a:xfrm>
            <a:off x="4297680" y="4343400"/>
            <a:ext cx="3520440" cy="1874520"/>
          </a:xfrm>
          <a:prstGeom prst="roundRect">
            <a:avLst>
              <a:gd name="adj" fmla="val 3902"/>
            </a:avLst>
          </a:prstGeom>
          <a:solidFill>
            <a:srgbClr val="F1F3F6"/>
          </a:solidFill>
          <a:ln w="12700">
            <a:solidFill>
              <a:srgbClr val="F1F3F6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480560" y="4471416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Surrogate keys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4480560" y="4855464"/>
            <a:ext cx="31546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3A45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transformer_key is our own stable integer: business IDs arrive messy ("tr-0045 ").</a:t>
            </a:r>
            <a:endParaRPr lang="en-US" sz="1350" dirty="0"/>
          </a:p>
        </p:txBody>
      </p:sp>
      <p:sp>
        <p:nvSpPr>
          <p:cNvPr id="13" name="Shape 10"/>
          <p:cNvSpPr/>
          <p:nvPr/>
        </p:nvSpPr>
        <p:spPr>
          <a:xfrm>
            <a:off x="8046720" y="4343400"/>
            <a:ext cx="3566160" cy="1874520"/>
          </a:xfrm>
          <a:prstGeom prst="roundRect">
            <a:avLst>
              <a:gd name="adj" fmla="val 3902"/>
            </a:avLst>
          </a:prstGeom>
          <a:solidFill>
            <a:srgbClr val="F1F3F6"/>
          </a:solidFill>
          <a:ln w="12700">
            <a:solidFill>
              <a:srgbClr val="F1F3F6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8229600" y="4471416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 history kept</a:t>
            </a:r>
            <a:endParaRPr lang="en-US" sz="1500" dirty="0"/>
          </a:p>
        </p:txBody>
      </p:sp>
      <p:sp>
        <p:nvSpPr>
          <p:cNvPr id="15" name="Text 12"/>
          <p:cNvSpPr/>
          <p:nvPr/>
        </p:nvSpPr>
        <p:spPr>
          <a:xfrm>
            <a:off x="8229600" y="4855464"/>
            <a:ext cx="32004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3A45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dim_run, fact_risk and fact_plan are never wiped by a rebuild, so before/after new data can be compared.</a:t>
            </a:r>
            <a:endParaRPr lang="en-US" sz="13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566928" cy="566928"/>
          </a:xfrm>
          <a:prstGeom prst="ellipse">
            <a:avLst/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8404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620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234440" y="292608"/>
            <a:ext cx="10424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gold table and how it is used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1234440" y="841248"/>
            <a:ext cx="10424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6B76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by src/pipeline.py and src/features.py · run history written by the API and the UI</a:t>
            </a:r>
            <a:endParaRPr lang="en-US" sz="15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17320"/>
          <a:ext cx="1106424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914400"/>
                <a:gridCol w="5120640"/>
                <a:gridCol w="32004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Table</a:t>
                      </a:r>
                      <a:endParaRPr lang="en-US" sz="13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4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Rows</a:t>
                      </a:r>
                      <a:endParaRPr lang="en-US" sz="13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4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Key columns / measures</a:t>
                      </a:r>
                      <a:endParaRPr lang="en-US" sz="13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4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Used for</a:t>
                      </a:r>
                      <a:endParaRPr lang="en-US" sz="13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430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A45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dim_transformer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A45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A45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transformer_key, customer_type, customers, region, rating_class, type_weight, impact_weight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A45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risk = p × impact · pricing by size · UI filters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A45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dim_date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A45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1,188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A45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date_key (20250101), year, quarter, month, is_snapshot_date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A45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slice any fact by month / quarter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A45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dim_action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A45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A45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action_key, action (replace/inspect), rating_class, cost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A45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plan prices · fact_plan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A45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dim_run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A45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 run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A45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run_id, created_at, kind, as_of, budget, model_version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A45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compare runs before / after new data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A45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fact_oil_test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A45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1,016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A45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 gases (ppm), total combustible gas, unit_fixed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A45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gas history · analysis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A45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fact_operation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A45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14,112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A45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load %, top-oil temperature, age, is_failure, is_repair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A45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stress history · failure counts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A45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fact_snapshot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A45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4,800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A45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21 features + failed_next_12m (3,200 labelled, 138 positive)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A45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model's training table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A45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fact_risk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A45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 run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A45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probability, 90% range, health, impact, risk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A45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API /predict · UI re-score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A45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fact_plan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A45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 plan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A45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action, cost, risk before, risk removed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A45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API /plan · UI Approve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566928" cy="566928"/>
          </a:xfrm>
          <a:prstGeom prst="ellipse">
            <a:avLst/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8404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620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234440" y="292608"/>
            <a:ext cx="10424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grain, and how we stop the model seeing the future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1234440" y="841248"/>
            <a:ext cx="10424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6B76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row = one transformer at one quarterly snapshot date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48640" y="1600200"/>
            <a:ext cx="6309360" cy="914400"/>
          </a:xfrm>
          <a:prstGeom prst="roundRect">
            <a:avLst>
              <a:gd name="adj" fmla="val 8000"/>
            </a:avLst>
          </a:prstGeom>
          <a:solidFill>
            <a:srgbClr val="F1F3F6"/>
          </a:solidFill>
          <a:ln w="12700">
            <a:solidFill>
              <a:srgbClr val="F1F3F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1600200"/>
            <a:ext cx="6035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History before the date → the INPUTS (21 features)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858000" y="1371600"/>
            <a:ext cx="822960" cy="1371600"/>
          </a:xfrm>
          <a:prstGeom prst="roundRect">
            <a:avLst>
              <a:gd name="adj" fmla="val 8889"/>
            </a:avLst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0" y="1371600"/>
            <a:ext cx="822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620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Snap-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1620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shot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7680960" y="1600200"/>
            <a:ext cx="3931920" cy="914400"/>
          </a:xfrm>
          <a:prstGeom prst="roundRect">
            <a:avLst>
              <a:gd name="adj" fmla="val 8000"/>
            </a:avLst>
          </a:prstGeom>
          <a:solidFill>
            <a:srgbClr val="1B2430"/>
          </a:solidFill>
          <a:ln w="12700">
            <a:solidFill>
              <a:srgbClr val="1B243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863840" y="1600200"/>
            <a:ext cx="3657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 12 months → the ANSWER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48640" y="2971800"/>
            <a:ext cx="3520440" cy="3246120"/>
          </a:xfrm>
          <a:prstGeom prst="roundRect">
            <a:avLst>
              <a:gd name="adj" fmla="val 2254"/>
            </a:avLst>
          </a:prstGeom>
          <a:solidFill>
            <a:srgbClr val="F1F3F6"/>
          </a:solidFill>
          <a:ln w="12700">
            <a:solidFill>
              <a:srgbClr val="F1F3F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31520" y="3099816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SQL window functions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731520" y="3483864"/>
            <a:ext cx="3154680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3A45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ROW_NUMBER() → the newest usable oil test before the snapshot.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3A45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LAG() → the previous test, so we know how fast gases are rising.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3A45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repair resets the pattern: tests count from the month after it.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4297680" y="2971800"/>
            <a:ext cx="3520440" cy="3246120"/>
          </a:xfrm>
          <a:prstGeom prst="roundRect">
            <a:avLst>
              <a:gd name="adj" fmla="val 2254"/>
            </a:avLst>
          </a:prstGeom>
          <a:solidFill>
            <a:srgbClr val="F1F3F6"/>
          </a:solidFill>
          <a:ln w="12700">
            <a:solidFill>
              <a:srgbClr val="F1F3F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480560" y="3099816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Labels are NULL, not 0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4480560" y="3483864"/>
            <a:ext cx="3154680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3A45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Quarters after 2025-10-01 don't have 12 months of future in the data yet. Treating "not seen yet" as "did not fail" would quietly corrupt training.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8046720" y="2971800"/>
            <a:ext cx="3566160" cy="3246120"/>
          </a:xfrm>
          <a:prstGeom prst="roundRect">
            <a:avLst>
              <a:gd name="adj" fmla="val 2254"/>
            </a:avLst>
          </a:prstGeom>
          <a:solidFill>
            <a:srgbClr val="FFF4D6"/>
          </a:solidFill>
          <a:ln w="12700">
            <a:solidFill>
              <a:srgbClr val="FFF4D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229600" y="3099816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Leakage test, proven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8229600" y="3483864"/>
            <a:ext cx="3200400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3A45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150 random rows recomputed in plain pandas from data before the snapshot only: they match. We planted a leak on purpose (tests 3 months in the future): the test failed. Reverted → passes.</a:t>
            </a:r>
            <a:endParaRPr lang="en-US" sz="13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566928" cy="566928"/>
          </a:xfrm>
          <a:prstGeom prst="ellipse">
            <a:avLst/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8404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620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234440" y="292608"/>
            <a:ext cx="10424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the model is trained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1234440" y="841248"/>
            <a:ext cx="10424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6B76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src/model.py · scikit-learn only · seed 42 everywhere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48640" y="1508760"/>
            <a:ext cx="2606040" cy="2148840"/>
          </a:xfrm>
          <a:prstGeom prst="roundRect">
            <a:avLst>
              <a:gd name="adj" fmla="val 3404"/>
            </a:avLst>
          </a:prstGeom>
          <a:solidFill>
            <a:srgbClr val="F1F3F6"/>
          </a:solidFill>
          <a:ln w="12700">
            <a:solidFill>
              <a:srgbClr val="F1F3F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1520" y="1673352"/>
            <a:ext cx="411480" cy="411480"/>
          </a:xfrm>
          <a:prstGeom prst="ellipse">
            <a:avLst/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167335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620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234440" y="1673352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Split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731520" y="2194560"/>
            <a:ext cx="22860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A45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Held-out = last 2 labelled quarters × 20% of transformers (160 rows, 9 failures), used ONCE.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3355848" y="1508760"/>
            <a:ext cx="2606040" cy="2148840"/>
          </a:xfrm>
          <a:prstGeom prst="roundRect">
            <a:avLst>
              <a:gd name="adj" fmla="val 3404"/>
            </a:avLst>
          </a:prstGeom>
          <a:solidFill>
            <a:srgbClr val="F1F3F6"/>
          </a:solidFill>
          <a:ln w="12700">
            <a:solidFill>
              <a:srgbClr val="F1F3F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538728" y="1673352"/>
            <a:ext cx="411480" cy="411480"/>
          </a:xfrm>
          <a:prstGeom prst="ellipse">
            <a:avLst/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538728" y="167335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620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041648" y="1673352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Candidates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3538728" y="2194560"/>
            <a:ext cx="22860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A45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Baselines: age only, health-index rule. Models: LR + median, LR + missing flags, boosting with native NaN.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163056" y="1508760"/>
            <a:ext cx="2606040" cy="2148840"/>
          </a:xfrm>
          <a:prstGeom prst="roundRect">
            <a:avLst>
              <a:gd name="adj" fmla="val 3404"/>
            </a:avLst>
          </a:prstGeom>
          <a:solidFill>
            <a:srgbClr val="F1F3F6"/>
          </a:solidFill>
          <a:ln w="12700">
            <a:solidFill>
              <a:srgbClr val="F1F3F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345936" y="1673352"/>
            <a:ext cx="411480" cy="411480"/>
          </a:xfrm>
          <a:prstGeom prst="ellipse">
            <a:avLst/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345936" y="167335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620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848856" y="1673352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Validate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6345936" y="2194560"/>
            <a:ext cx="22860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A45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Grouped by transformer AND time-aware (train on earlier quarters), 5 repeats → mean and range.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8970264" y="1508760"/>
            <a:ext cx="2606040" cy="2148840"/>
          </a:xfrm>
          <a:prstGeom prst="roundRect">
            <a:avLst>
              <a:gd name="adj" fmla="val 3404"/>
            </a:avLst>
          </a:prstGeom>
          <a:solidFill>
            <a:srgbClr val="F1F3F6"/>
          </a:solidFill>
          <a:ln w="12700">
            <a:solidFill>
              <a:srgbClr val="F1F3F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9153144" y="1673352"/>
            <a:ext cx="411480" cy="411480"/>
          </a:xfrm>
          <a:prstGeom prst="ellipse">
            <a:avLst/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153144" y="167335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620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9656064" y="1673352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Choose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9153144" y="2194560"/>
            <a:ext cx="22860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A45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Simplest within the noise of the best → logistic regression + median fill.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548640" y="3886200"/>
            <a:ext cx="2606040" cy="2148840"/>
          </a:xfrm>
          <a:prstGeom prst="roundRect">
            <a:avLst>
              <a:gd name="adj" fmla="val 3404"/>
            </a:avLst>
          </a:prstGeom>
          <a:solidFill>
            <a:srgbClr val="F1F3F6"/>
          </a:solidFill>
          <a:ln w="12700">
            <a:solidFill>
              <a:srgbClr val="F1F3F6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31520" y="4050792"/>
            <a:ext cx="411480" cy="411480"/>
          </a:xfrm>
          <a:prstGeom prst="ellipse">
            <a:avLst/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31520" y="405079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620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1234440" y="4050792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Calibrate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731520" y="4572000"/>
            <a:ext cx="22860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A45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Platt (sigmoid): Brier 0.18 → 0.053. Isotonic rejected: overfits ~40 failures.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3355848" y="3886200"/>
            <a:ext cx="2606040" cy="2148840"/>
          </a:xfrm>
          <a:prstGeom prst="roundRect">
            <a:avLst>
              <a:gd name="adj" fmla="val 3404"/>
            </a:avLst>
          </a:prstGeom>
          <a:solidFill>
            <a:srgbClr val="F1F3F6"/>
          </a:solidFill>
          <a:ln w="12700">
            <a:solidFill>
              <a:srgbClr val="F1F3F6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538728" y="4050792"/>
            <a:ext cx="411480" cy="411480"/>
          </a:xfrm>
          <a:prstGeom prst="ellipse">
            <a:avLst/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538728" y="405079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620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4041648" y="4050792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Range</a:t>
            </a:r>
            <a:endParaRPr lang="en-US" sz="1500" dirty="0"/>
          </a:p>
        </p:txBody>
      </p:sp>
      <p:sp>
        <p:nvSpPr>
          <p:cNvPr id="35" name="Text 33"/>
          <p:cNvSpPr/>
          <p:nvPr/>
        </p:nvSpPr>
        <p:spPr>
          <a:xfrm>
            <a:off x="3538728" y="4572000"/>
            <a:ext cx="22860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A45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bootstrap copies → 90% range. Untested units get a wider range (0.12 vs 0.07).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6163056" y="3886200"/>
            <a:ext cx="2606040" cy="2148840"/>
          </a:xfrm>
          <a:prstGeom prst="roundRect">
            <a:avLst>
              <a:gd name="adj" fmla="val 3404"/>
            </a:avLst>
          </a:prstGeom>
          <a:solidFill>
            <a:srgbClr val="F1F3F6"/>
          </a:solidFill>
          <a:ln w="12700">
            <a:solidFill>
              <a:srgbClr val="F1F3F6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6345936" y="4050792"/>
            <a:ext cx="411480" cy="411480"/>
          </a:xfrm>
          <a:prstGeom prst="ellipse">
            <a:avLst/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345936" y="405079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620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6848856" y="4050792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Explain</a:t>
            </a:r>
            <a:endParaRPr lang="en-US" sz="1500" dirty="0"/>
          </a:p>
        </p:txBody>
      </p:sp>
      <p:sp>
        <p:nvSpPr>
          <p:cNvPr id="40" name="Text 38"/>
          <p:cNvSpPr/>
          <p:nvPr/>
        </p:nvSpPr>
        <p:spPr>
          <a:xfrm>
            <a:off x="6345936" y="4572000"/>
            <a:ext cx="22860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A45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3 drivers per unit; permutation importance globally (age leads).</a:t>
            </a:r>
            <a:endParaRPr lang="en-US" sz="1400" dirty="0"/>
          </a:p>
        </p:txBody>
      </p:sp>
      <p:sp>
        <p:nvSpPr>
          <p:cNvPr id="41" name="Shape 39"/>
          <p:cNvSpPr/>
          <p:nvPr/>
        </p:nvSpPr>
        <p:spPr>
          <a:xfrm>
            <a:off x="8970264" y="3886200"/>
            <a:ext cx="2606040" cy="2148840"/>
          </a:xfrm>
          <a:prstGeom prst="roundRect">
            <a:avLst>
              <a:gd name="adj" fmla="val 3404"/>
            </a:avLst>
          </a:prstGeom>
          <a:solidFill>
            <a:srgbClr val="F1F3F6"/>
          </a:solidFill>
          <a:ln w="12700">
            <a:solidFill>
              <a:srgbClr val="F1F3F6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9153144" y="4050792"/>
            <a:ext cx="411480" cy="411480"/>
          </a:xfrm>
          <a:prstGeom prst="ellipse">
            <a:avLst/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9153144" y="405079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620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300" dirty="0"/>
          </a:p>
        </p:txBody>
      </p:sp>
      <p:sp>
        <p:nvSpPr>
          <p:cNvPr id="44" name="Text 42"/>
          <p:cNvSpPr/>
          <p:nvPr/>
        </p:nvSpPr>
        <p:spPr>
          <a:xfrm>
            <a:off x="9656064" y="4050792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Save + serve</a:t>
            </a:r>
            <a:endParaRPr lang="en-US" sz="1500" dirty="0"/>
          </a:p>
        </p:txBody>
      </p:sp>
      <p:sp>
        <p:nvSpPr>
          <p:cNvPr id="45" name="Text 43"/>
          <p:cNvSpPr/>
          <p:nvPr/>
        </p:nvSpPr>
        <p:spPr>
          <a:xfrm>
            <a:off x="9153144" y="4572000"/>
            <a:ext cx="22860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A45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models/model.joblib + model card; score() → probability, range, status, health, drivers.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566928" cy="566928"/>
          </a:xfrm>
          <a:prstGeom prst="ellipse">
            <a:avLst/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8404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620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234440" y="292608"/>
            <a:ext cx="10424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Results, stated honestly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1234440" y="841248"/>
            <a:ext cx="10424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6B76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PR-AUC: are real failures near the top of the list? (guessing = 0.043)</a:t>
            </a:r>
            <a:endParaRPr lang="en-US" sz="15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548640" y="1417320"/>
          <a:ext cx="6035040" cy="4206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Text 4"/>
          <p:cNvSpPr/>
          <p:nvPr/>
        </p:nvSpPr>
        <p:spPr>
          <a:xfrm>
            <a:off x="548640" y="5715000"/>
            <a:ext cx="6035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B76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Held-out, used once (9 failures): model 0.104 · age only 0.152 · health rule 0.356. All intervals overlap.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6949440" y="1417320"/>
            <a:ext cx="4663440" cy="1828800"/>
          </a:xfrm>
          <a:prstGeom prst="roundRect">
            <a:avLst>
              <a:gd name="adj" fmla="val 4000"/>
            </a:avLst>
          </a:prstGeom>
          <a:solidFill>
            <a:srgbClr val="F1F3F6"/>
          </a:solidFill>
          <a:ln w="12700">
            <a:solidFill>
              <a:srgbClr val="F1F3F6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132320" y="1545336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Calibration works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7132320" y="1929384"/>
            <a:ext cx="4297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3A45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Brier score 0.182 → 0.053 after Platt scaling: a predicted 20% now means about 20%, which the risk formula needs.</a:t>
            </a:r>
            <a:endParaRPr lang="en-US" sz="1350" dirty="0"/>
          </a:p>
        </p:txBody>
      </p:sp>
      <p:sp>
        <p:nvSpPr>
          <p:cNvPr id="11" name="Shape 8"/>
          <p:cNvSpPr/>
          <p:nvPr/>
        </p:nvSpPr>
        <p:spPr>
          <a:xfrm>
            <a:off x="6949440" y="3429000"/>
            <a:ext cx="4663440" cy="2834640"/>
          </a:xfrm>
          <a:prstGeom prst="roundRect">
            <a:avLst>
              <a:gd name="adj" fmla="val 2581"/>
            </a:avLst>
          </a:prstGeom>
          <a:solidFill>
            <a:srgbClr val="FFF4D6"/>
          </a:solidFill>
          <a:ln w="12700">
            <a:solidFill>
              <a:srgbClr val="FFF4D6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7132320" y="3557016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Honest verdict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7132320" y="3941064"/>
            <a:ext cx="429768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A45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our synthetic data the model does NOT beat age alone: failures there are driven mostly by age and the gas signal is faint. We keep it because an inspection result must be able to change a unit's risk, and age-only would ignore it. A 4-input version (age + gas/trend/load points) scored 0.117 and beat age-only: our next step.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566928" cy="566928"/>
          </a:xfrm>
          <a:prstGeom prst="ellipse">
            <a:avLst/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8404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620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234440" y="292608"/>
            <a:ext cx="10424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prediction to decision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1234440" y="841248"/>
            <a:ext cx="10424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6B76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= calibrated probability × impact, then a knapsack within the budget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48640" y="1463040"/>
            <a:ext cx="2743200" cy="1600200"/>
          </a:xfrm>
          <a:prstGeom prst="roundRect">
            <a:avLst>
              <a:gd name="adj" fmla="val 4571"/>
            </a:avLst>
          </a:prstGeom>
          <a:solidFill>
            <a:srgbClr val="F1F3F6"/>
          </a:solidFill>
          <a:ln w="12700">
            <a:solidFill>
              <a:srgbClr val="F1F3F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1591056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Hospital unit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31520" y="1975104"/>
            <a:ext cx="23774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A45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12,000 customers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A45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 5 × 12,000 = 60,000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A45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19% → risk 11,400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474720" y="1463040"/>
            <a:ext cx="2743200" cy="1600200"/>
          </a:xfrm>
          <a:prstGeom prst="roundRect">
            <a:avLst>
              <a:gd name="adj" fmla="val 4571"/>
            </a:avLst>
          </a:prstGeom>
          <a:solidFill>
            <a:srgbClr val="F1F3F6"/>
          </a:solidFill>
          <a:ln w="12700">
            <a:solidFill>
              <a:srgbClr val="F1F3F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0" y="1591056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Rural unit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3657600" y="1975104"/>
            <a:ext cx="23774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A45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2,000 customers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A45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 1 × 2,000 = 2,000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A45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25% → risk 500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48640" y="3154680"/>
            <a:ext cx="5669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6B76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hospital unit comes first, even though the rural one is more likely to fail.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548640" y="3703320"/>
            <a:ext cx="576072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b="1" dirty="0">
                <a:solidFill>
                  <a:srgbClr val="3A45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 removes risk: (p − 1%) × impact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3A45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Inspect reveals hidden risk: (p_high − p) × impact: most valuable where we know least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3A45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replace blind: no recent oil test → inspect only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3A45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Knapsack (dynamic programming): ≤ 1 action per unit, cost ≤ budget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3A45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plan is a proposal: an engineer approves it</a:t>
            </a:r>
            <a:endParaRPr lang="en-US" sz="1400" dirty="0"/>
          </a:p>
        </p:txBody>
      </p:sp>
      <p:graphicFrame>
        <p:nvGraphicFramePr>
          <p:cNvPr id="14" name="Chart 0" descr=""/>
          <p:cNvGraphicFramePr/>
          <p:nvPr/>
        </p:nvGraphicFramePr>
        <p:xfrm>
          <a:off x="6583680" y="1417320"/>
          <a:ext cx="5029200" cy="35661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5" name="Text 12"/>
          <p:cNvSpPr/>
          <p:nvPr/>
        </p:nvSpPr>
        <p:spPr>
          <a:xfrm>
            <a:off x="6583680" y="5120640"/>
            <a:ext cx="5029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B76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Plus 226 inspections covering 377,943 of hidden risk, shown separately, never added. Held-out budget test: 10.0% vs 2.3%; acted on 4 real failures vs 2.</a:t>
            </a:r>
            <a:endParaRPr lang="en-US" sz="12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566928" cy="566928"/>
          </a:xfrm>
          <a:prstGeom prst="ellipse">
            <a:avLst/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8404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620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234440" y="292608"/>
            <a:ext cx="10424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Mentor feedback, and what we built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1234440" y="841248"/>
            <a:ext cx="10424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6B76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"If an inspection shows it is worse than predicted, its risk should go up."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731520" y="1508760"/>
            <a:ext cx="1371600" cy="1371600"/>
          </a:xfrm>
          <a:prstGeom prst="ellipse">
            <a:avLst/>
          </a:prstGeom>
          <a:solidFill>
            <a:srgbClr val="F2A90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1508760"/>
            <a:ext cx="1371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620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Inspection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2121408" y="201168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2A900"/>
                </a:solidFill>
              </a:rPr>
              <a:t>►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2606040" y="1508760"/>
            <a:ext cx="1371600" cy="1371600"/>
          </a:xfrm>
          <a:prstGeom prst="ellipse">
            <a:avLst/>
          </a:prstGeom>
          <a:solidFill>
            <a:srgbClr val="1B243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606040" y="1508760"/>
            <a:ext cx="1371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= new oil test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3995928" y="201168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2A900"/>
                </a:solidFill>
              </a:rPr>
              <a:t>►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480560" y="1508760"/>
            <a:ext cx="1371600" cy="1371600"/>
          </a:xfrm>
          <a:prstGeom prst="ellipse">
            <a:avLst/>
          </a:prstGeom>
          <a:solidFill>
            <a:srgbClr val="1B243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480560" y="1508760"/>
            <a:ext cx="1371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/ingest or UI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5870448" y="201168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2A900"/>
                </a:solidFill>
              </a:rPr>
              <a:t>►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6355080" y="1508760"/>
            <a:ext cx="1371600" cy="1371600"/>
          </a:xfrm>
          <a:prstGeom prst="ellipse">
            <a:avLst/>
          </a:prstGeom>
          <a:solidFill>
            <a:srgbClr val="1B243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355080" y="1508760"/>
            <a:ext cx="1371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Validate +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rebuild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7744968" y="201168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2A900"/>
                </a:solidFill>
              </a:rPr>
              <a:t>►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8229600" y="1508760"/>
            <a:ext cx="1371600" cy="1371600"/>
          </a:xfrm>
          <a:prstGeom prst="ellipse">
            <a:avLst/>
          </a:prstGeom>
          <a:solidFill>
            <a:srgbClr val="1B243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229600" y="1508760"/>
            <a:ext cx="1371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Re-score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9619488" y="201168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2A900"/>
                </a:solidFill>
              </a:rPr>
              <a:t>►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10104120" y="1508760"/>
            <a:ext cx="1371600" cy="1371600"/>
          </a:xfrm>
          <a:prstGeom prst="ellipse">
            <a:avLst/>
          </a:prstGeom>
          <a:solidFill>
            <a:srgbClr val="F2A90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0104120" y="1508760"/>
            <a:ext cx="1371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620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Re-plan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548640" y="3017520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i="1" dirty="0">
                <a:solidFill>
                  <a:srgbClr val="3A45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in the UI: the rehearsal file re-scores 40 transformers. A worse unit's risk rises, its range narrows, and the next plan replaces it.</a:t>
            </a:r>
            <a:endParaRPr lang="en-US" sz="145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3703320"/>
          <a:ext cx="11064240" cy="914400"/>
        </p:xfrm>
        <a:graphic>
          <a:graphicData uri="http://schemas.openxmlformats.org/drawingml/2006/table">
            <a:tbl>
              <a:tblPr/>
              <a:tblGrid>
                <a:gridCol w="3931920"/>
                <a:gridCol w="713232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Panel said (12:00 review)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4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What we did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430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3A45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Inspection results should raise risk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3A45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Inspection = new oil test → loader → rebuild → re-score → re-plan; before/after table in the UI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3A45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Assume replacement / inspection costs and the budget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3A45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replace 150k / 350k / 700k · inspect 10k / 15k / 25k · budget 5M (late drop 4M)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3A45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Which libraries for data, models, everything?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3A45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pandas/numpy · SQLite/SQLAlchemy · scikit-learn/joblib · FastAPI · Streamlit · pytest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3A45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Docker is optional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3A45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Removed; requirements.txt pinned to the exact versions we tested with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6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566928" cy="566928"/>
          </a:xfrm>
          <a:prstGeom prst="ellipse">
            <a:avLst/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8404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620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234440" y="292608"/>
            <a:ext cx="10424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edge case, handled on purpose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1234440" y="841248"/>
            <a:ext cx="10424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6B76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six HCL traps were planted in our data, so each one can be shown</a:t>
            </a:r>
            <a:endParaRPr lang="en-US" sz="15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17320"/>
          <a:ext cx="11064240" cy="914400"/>
        </p:xfrm>
        <a:graphic>
          <a:graphicData uri="http://schemas.openxmlformats.org/drawingml/2006/table">
            <a:tbl>
              <a:tblPr/>
              <a:tblGrid>
                <a:gridCol w="3108960"/>
                <a:gridCol w="6309360"/>
                <a:gridCol w="164592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Edge case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4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How we handle it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4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Where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430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3A45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oil test at all (38%)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3A45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has_oil_test feature · low confidence · wider range · health blank, never "healthy" · inspect first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3A45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features · model · plan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3A45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Old units with few tests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3A45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 confidence (one test) · wide range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3A45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3A45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Look-alike pair: hospital vs rural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3A45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same probability, very different impact → the hospital ranks far higher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3A45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dim_transformer · plan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3A45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Gas jump from a unit change (ppb)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3A45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test ≥ 200× the unit's other tests → ÷1000 and flagged (found exactly the 3 planted)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3A45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silver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3A45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Recent repair resets the pattern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3A45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gas features use only tests from the month after the latest repair / failure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3A45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features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3A45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Budget can't cover all high-risk units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3A45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knapsack takes the best risk per unit of money; the rest wait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3A45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plan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3A45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Duplicates, messy IDs, gaps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3A45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strip().upper() · one row per key, last loaded wins · gaps stay NULL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3A45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silver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3A45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Judges' files without our extra columns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3A45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rating_class → medium (flagged) · no event → none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3A45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silver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3A45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Renamed column · bad rows in uploads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3A45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COLUMN_ALIASES config · rows rejected with a reason · rollback if validation fails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3A45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loader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566928" cy="566928"/>
          </a:xfrm>
          <a:prstGeom prst="ellipse">
            <a:avLst/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8404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620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234440" y="292608"/>
            <a:ext cx="10424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interface: the engineer's workflow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1234440" y="841248"/>
            <a:ext cx="10424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6B76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 run ui/app.py · calls the same functions as the API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48640" y="1600200"/>
            <a:ext cx="2066544" cy="4023360"/>
          </a:xfrm>
          <a:prstGeom prst="roundRect">
            <a:avLst>
              <a:gd name="adj" fmla="val 3540"/>
            </a:avLst>
          </a:prstGeom>
          <a:solidFill>
            <a:srgbClr val="F1F3F6"/>
          </a:solidFill>
          <a:ln w="12700">
            <a:solidFill>
              <a:srgbClr val="F1F3F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261872" y="1828800"/>
            <a:ext cx="640080" cy="640080"/>
          </a:xfrm>
          <a:prstGeom prst="ellipse">
            <a:avLst/>
          </a:prstGeom>
          <a:solidFill>
            <a:srgbClr val="1B2430"/>
          </a:solidFill>
          <a:ln w="12700">
            <a:solidFill>
              <a:srgbClr val="1B243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261872" y="18288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2A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85800" y="2651760"/>
            <a:ext cx="179222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Fleet risk ranking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713232" y="3429000"/>
            <a:ext cx="173736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A45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is the risk? KPIs, ranked table, filters, low-confidence badges.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2798064" y="1600200"/>
            <a:ext cx="2066544" cy="4023360"/>
          </a:xfrm>
          <a:prstGeom prst="roundRect">
            <a:avLst>
              <a:gd name="adj" fmla="val 3540"/>
            </a:avLst>
          </a:prstGeom>
          <a:solidFill>
            <a:srgbClr val="F1F3F6"/>
          </a:solidFill>
          <a:ln w="12700">
            <a:solidFill>
              <a:srgbClr val="F1F3F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511296" y="1828800"/>
            <a:ext cx="640080" cy="640080"/>
          </a:xfrm>
          <a:prstGeom prst="ellipse">
            <a:avLst/>
          </a:prstGeom>
          <a:solidFill>
            <a:srgbClr val="1B2430"/>
          </a:solidFill>
          <a:ln w="12700">
            <a:solidFill>
              <a:srgbClr val="1B243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511296" y="18288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2A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2935224" y="2651760"/>
            <a:ext cx="179222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Transformer detail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2962656" y="3429000"/>
            <a:ext cx="173736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A45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Why? Probability + range, health points per field, gas history with ppb fix and repairs.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5047488" y="1600200"/>
            <a:ext cx="2066544" cy="4023360"/>
          </a:xfrm>
          <a:prstGeom prst="roundRect">
            <a:avLst>
              <a:gd name="adj" fmla="val 3540"/>
            </a:avLst>
          </a:prstGeom>
          <a:solidFill>
            <a:srgbClr val="F1F3F6"/>
          </a:solidFill>
          <a:ln w="12700">
            <a:solidFill>
              <a:srgbClr val="F1F3F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760720" y="1828800"/>
            <a:ext cx="640080" cy="640080"/>
          </a:xfrm>
          <a:prstGeom prst="ellipse">
            <a:avLst/>
          </a:prstGeom>
          <a:solidFill>
            <a:srgbClr val="1B2430"/>
          </a:solidFill>
          <a:ln w="12700">
            <a:solidFill>
              <a:srgbClr val="1B243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760720" y="18288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2A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5184648" y="2651760"/>
            <a:ext cx="179222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Budget plan</a:t>
            </a:r>
            <a:endParaRPr lang="en-US" sz="1450" dirty="0"/>
          </a:p>
        </p:txBody>
      </p:sp>
      <p:sp>
        <p:nvSpPr>
          <p:cNvPr id="20" name="Text 18"/>
          <p:cNvSpPr/>
          <p:nvPr/>
        </p:nvSpPr>
        <p:spPr>
          <a:xfrm>
            <a:off x="5212080" y="3429000"/>
            <a:ext cx="173736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A45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do we do? Our plan vs replace-oldest, removed vs revealed risk, Approve.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7296912" y="1600200"/>
            <a:ext cx="2066544" cy="4023360"/>
          </a:xfrm>
          <a:prstGeom prst="roundRect">
            <a:avLst>
              <a:gd name="adj" fmla="val 3540"/>
            </a:avLst>
          </a:prstGeom>
          <a:solidFill>
            <a:srgbClr val="FFF4D6"/>
          </a:solidFill>
          <a:ln w="12700">
            <a:solidFill>
              <a:srgbClr val="FFF4D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010144" y="1828800"/>
            <a:ext cx="640080" cy="640080"/>
          </a:xfrm>
          <a:prstGeom prst="ellipse">
            <a:avLst/>
          </a:prstGeom>
          <a:solidFill>
            <a:srgbClr val="1B2430"/>
          </a:solidFill>
          <a:ln w="12700">
            <a:solidFill>
              <a:srgbClr val="1B243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010144" y="18288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2A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7434072" y="2651760"/>
            <a:ext cx="179222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 data &amp; what changed</a:t>
            </a:r>
            <a:endParaRPr lang="en-US" sz="1450" dirty="0"/>
          </a:p>
        </p:txBody>
      </p:sp>
      <p:sp>
        <p:nvSpPr>
          <p:cNvPr id="25" name="Text 23"/>
          <p:cNvSpPr/>
          <p:nvPr/>
        </p:nvSpPr>
        <p:spPr>
          <a:xfrm>
            <a:off x="7461504" y="3429000"/>
            <a:ext cx="173736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A45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inspection results → re-score → before/after → plan changes.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9546336" y="1600200"/>
            <a:ext cx="2066544" cy="4023360"/>
          </a:xfrm>
          <a:prstGeom prst="roundRect">
            <a:avLst>
              <a:gd name="adj" fmla="val 3540"/>
            </a:avLst>
          </a:prstGeom>
          <a:solidFill>
            <a:srgbClr val="F1F3F6"/>
          </a:solidFill>
          <a:ln w="12700">
            <a:solidFill>
              <a:srgbClr val="F1F3F6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0259568" y="1828800"/>
            <a:ext cx="640080" cy="640080"/>
          </a:xfrm>
          <a:prstGeom prst="ellipse">
            <a:avLst/>
          </a:prstGeom>
          <a:solidFill>
            <a:srgbClr val="1B2430"/>
          </a:solidFill>
          <a:ln w="12700">
            <a:solidFill>
              <a:srgbClr val="1B243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0259568" y="18288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2A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9683496" y="2651760"/>
            <a:ext cx="179222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 &amp; data quality</a:t>
            </a:r>
            <a:endParaRPr lang="en-US" sz="1450" dirty="0"/>
          </a:p>
        </p:txBody>
      </p:sp>
      <p:sp>
        <p:nvSpPr>
          <p:cNvPr id="30" name="Text 28"/>
          <p:cNvSpPr/>
          <p:nvPr/>
        </p:nvSpPr>
        <p:spPr>
          <a:xfrm>
            <a:off x="9710928" y="3429000"/>
            <a:ext cx="173736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A45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Reliability chart: does a predicted 20% mean ~20%? Plus the 9/9 validation report.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548640" y="580644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6B76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is the risk → why → what do we do → what changed → can we trust it</a:t>
            </a:r>
            <a:endParaRPr lang="en-US" sz="15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566928" cy="566928"/>
          </a:xfrm>
          <a:prstGeom prst="ellipse">
            <a:avLst/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8404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620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234440" y="292608"/>
            <a:ext cx="10424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we validated, including the AI's work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1234440" y="841248"/>
            <a:ext cx="10424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6B76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assistants wrote most of the code; we specified the design and checked everything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48640" y="1508760"/>
            <a:ext cx="1783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9/9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548640" y="228600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6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HCL validation checks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2423160" y="1508760"/>
            <a:ext cx="1783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101</a:t>
            </a:r>
            <a:endParaRPr lang="en-US" sz="3400" dirty="0"/>
          </a:p>
        </p:txBody>
      </p:sp>
      <p:sp>
        <p:nvSpPr>
          <p:cNvPr id="9" name="Text 7"/>
          <p:cNvSpPr/>
          <p:nvPr/>
        </p:nvSpPr>
        <p:spPr>
          <a:xfrm>
            <a:off x="2423160" y="228600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6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tests pass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4297680" y="1508760"/>
            <a:ext cx="1783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36/36</a:t>
            </a:r>
            <a:endParaRPr lang="en-US" sz="3400" dirty="0"/>
          </a:p>
        </p:txBody>
      </p:sp>
      <p:sp>
        <p:nvSpPr>
          <p:cNvPr id="11" name="Text 9"/>
          <p:cNvSpPr/>
          <p:nvPr/>
        </p:nvSpPr>
        <p:spPr>
          <a:xfrm>
            <a:off x="4297680" y="228600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6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independent data-spec checks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48640" y="3108960"/>
            <a:ext cx="5486400" cy="3108960"/>
          </a:xfrm>
          <a:prstGeom prst="roundRect">
            <a:avLst>
              <a:gd name="adj" fmla="val 2353"/>
            </a:avLst>
          </a:prstGeom>
          <a:solidFill>
            <a:srgbClr val="F1F3F6"/>
          </a:solidFill>
          <a:ln w="12700">
            <a:solidFill>
              <a:srgbClr val="F1F3F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31520" y="3236976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we checked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731520" y="3621024"/>
            <a:ext cx="512064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A45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Leakage test proven by planting a leak · row counts at every join (validate="many_to_one") · two runs give identical tables · every UI screen run headless against the real model · every reported number read for plausibility.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6309360" y="1463040"/>
            <a:ext cx="5303520" cy="4754880"/>
          </a:xfrm>
          <a:prstGeom prst="roundRect">
            <a:avLst>
              <a:gd name="adj" fmla="val 1538"/>
            </a:avLst>
          </a:prstGeom>
          <a:solidFill>
            <a:srgbClr val="FFF4D6"/>
          </a:solidFill>
          <a:ln w="12700">
            <a:solidFill>
              <a:srgbClr val="FFF4D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92240" y="1591056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Mistakes we caught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6492240" y="1975104"/>
            <a:ext cx="493776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A45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Plan claimed "108.9% of risk removed": revealed risk was added to removed risk. Now reported separately.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3A45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A test passed for the wrong reason (missing column, not the future date). Fixed the test.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3A45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Scoring as of 2026-10-01 would have ignored the late-drop oil tests (dated Oct 1–10).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3A45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requirements pinned pandas 2.2.3; the code was tested on 3.0.0. Re-pinned.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3A45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A push added a nested repo pointer instead of the data. Removed.</a:t>
            </a:r>
            <a:endParaRPr lang="en-US" sz="13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566928" cy="566928"/>
          </a:xfrm>
          <a:prstGeom prst="ellipse">
            <a:avLst/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8404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620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234440" y="292608"/>
            <a:ext cx="10424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Libraries, by job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1234440" y="841248"/>
            <a:ext cx="10424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6B76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Small, standard stack: nothing to break on venue wifi</a:t>
            </a:r>
            <a:endParaRPr lang="en-US" sz="15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1106424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3657600"/>
                <a:gridCol w="50292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Job</a:t>
                      </a:r>
                      <a:endParaRPr lang="en-US" sz="14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4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Library</a:t>
                      </a:r>
                      <a:endParaRPr lang="en-US" sz="14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4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Used for</a:t>
                      </a:r>
                      <a:endParaRPr lang="en-US" sz="14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430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3A45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 generation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3A45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numpy, pandas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3A45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seeded synthetic fleet with planted edge cases, data card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3A45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Storage + pipeline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3A45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SQLite, SQLAlchemy, pandas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3A45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bronze / silver / gold, transactions, window-function SQL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3A45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3A45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scikit-learn, joblib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3A45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logistic regression, boosting, imputation, pipelines, grouped CV, calibration, metrics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3A45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Budget optimiser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3A45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plain Python (dynamic programming)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3A45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knapsack: explainable line by line, no solver needed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3A45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Serving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3A45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FastAPI, Uvicorn, Pydantic v2, python-multipart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3A45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/predict /plan /ingest /model/info /explain /health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3A45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Interface + charts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3A45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Streamlit, matplotlib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3A45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 screens, gas history, reliability chart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3A45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Testing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3A45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pytest, httpx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3A45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101 tests, including leakage and API contract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566928" cy="566928"/>
          </a:xfrm>
          <a:prstGeom prst="ellipse">
            <a:avLst/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8404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620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234440" y="292608"/>
            <a:ext cx="10424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it scales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1234440" y="841248"/>
            <a:ext cx="10424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6B76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grain and the shared feature function stay; only the engine underneath changes</a:t>
            </a:r>
            <a:endParaRPr lang="en-US" sz="15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17320"/>
          <a:ext cx="11064240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2834640"/>
                <a:gridCol w="658368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Area</a:t>
                      </a:r>
                      <a:endParaRPr lang="en-US" sz="13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4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Today</a:t>
                      </a:r>
                      <a:endParaRPr lang="en-US" sz="13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4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At scale</a:t>
                      </a:r>
                      <a:endParaRPr lang="en-US" sz="13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430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A45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Storage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A45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SQLite, one file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A45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PostgreSQL; bronze as Parquet partitioned by month; indexes on (transformer_id, test_date) and (transformer_id, month)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A45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Loading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A45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full rebuild, ~3 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A45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incremental: watermark on _ingested_at, upsert into silver, only the new quarter's snapshots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A45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History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A45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SCD Type 1 (overwrite)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A45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SCD Type 2 on dim_transformer: keep customer / size changes over time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A45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A45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retrained by hand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A45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scheduled monthly retraining, drift + calibration monitoring; versions already in dim_run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A45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Optimiser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A45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DP: 400 units × 1,000 budget steps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A45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integer programming (OR-Tools / PuLP) or greedy by value-per-cost for 10k+ units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A45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API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A45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one Uvicorn process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A45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stateless → several workers behind Nginx; nightly precomputed fact_risk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A45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UI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A45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scores live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A45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reads precomputed fact_risk; live scoring only for what-if questions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A45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Deployment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A45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our laptops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A45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containers on a Linux server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6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566928" cy="566928"/>
          </a:xfrm>
          <a:prstGeom prst="ellipse">
            <a:avLst/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8404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620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234440" y="292608"/>
            <a:ext cx="10424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prototype to product: taking it to market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1234440" y="841248"/>
            <a:ext cx="10424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6B76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with one utility, prove it on their own history, then grow by assets and by customers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48640" y="1508760"/>
            <a:ext cx="2606040" cy="2514600"/>
          </a:xfrm>
          <a:prstGeom prst="roundRect">
            <a:avLst>
              <a:gd name="adj" fmla="val 2909"/>
            </a:avLst>
          </a:prstGeom>
          <a:solidFill>
            <a:srgbClr val="FFF4D6"/>
          </a:solidFill>
          <a:ln w="12700">
            <a:solidFill>
              <a:srgbClr val="FFF4D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1520" y="1673352"/>
            <a:ext cx="457200" cy="457200"/>
          </a:xfrm>
          <a:prstGeom prst="ellipse">
            <a:avLst/>
          </a:prstGeom>
          <a:solidFill>
            <a:srgbClr val="1B2430"/>
          </a:solidFill>
          <a:ln w="12700">
            <a:solidFill>
              <a:srgbClr val="1B243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16733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2A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298448" y="1673352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Pilot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31520" y="2267712"/>
            <a:ext cx="228600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A45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utility region. Load their history, back-test: would our plan have caught last year's failures better than their current method?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136392" y="2560320"/>
            <a:ext cx="2377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2A900"/>
                </a:solidFill>
              </a:rPr>
              <a:t>►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355848" y="1508760"/>
            <a:ext cx="2606040" cy="2514600"/>
          </a:xfrm>
          <a:prstGeom prst="roundRect">
            <a:avLst>
              <a:gd name="adj" fmla="val 2909"/>
            </a:avLst>
          </a:prstGeom>
          <a:solidFill>
            <a:srgbClr val="F1F3F6"/>
          </a:solidFill>
          <a:ln w="12700">
            <a:solidFill>
              <a:srgbClr val="F1F3F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538728" y="1673352"/>
            <a:ext cx="457200" cy="457200"/>
          </a:xfrm>
          <a:prstGeom prst="ellipse">
            <a:avLst/>
          </a:prstGeom>
          <a:solidFill>
            <a:srgbClr val="1B2430"/>
          </a:solidFill>
          <a:ln w="12700">
            <a:solidFill>
              <a:srgbClr val="1B243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538728" y="16733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2A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105656" y="1673352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Integrate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3538728" y="2267712"/>
            <a:ext cx="228600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A45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 real sources: lab oil-test results, meter / SCADA loading, GIS map of who each transformer feeds, work-order history.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943600" y="2560320"/>
            <a:ext cx="2377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2A900"/>
                </a:solidFill>
              </a:rPr>
              <a:t>►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163056" y="1508760"/>
            <a:ext cx="2606040" cy="2514600"/>
          </a:xfrm>
          <a:prstGeom prst="roundRect">
            <a:avLst>
              <a:gd name="adj" fmla="val 2909"/>
            </a:avLst>
          </a:prstGeom>
          <a:solidFill>
            <a:srgbClr val="F1F3F6"/>
          </a:solidFill>
          <a:ln w="12700">
            <a:solidFill>
              <a:srgbClr val="F1F3F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345936" y="1673352"/>
            <a:ext cx="457200" cy="457200"/>
          </a:xfrm>
          <a:prstGeom prst="ellipse">
            <a:avLst/>
          </a:prstGeom>
          <a:solidFill>
            <a:srgbClr val="1B2430"/>
          </a:solidFill>
          <a:ln w="12700">
            <a:solidFill>
              <a:srgbClr val="1B243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345936" y="16733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2A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912864" y="1673352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Expand assets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6345936" y="2267712"/>
            <a:ext cx="228600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A45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pattern (grain + features + probability × consequence + budget optimiser) for breakers, cables, poles, substations.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8750808" y="2560320"/>
            <a:ext cx="2377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2A900"/>
                </a:solidFill>
              </a:rPr>
              <a:t>►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8970264" y="1508760"/>
            <a:ext cx="2606040" cy="2514600"/>
          </a:xfrm>
          <a:prstGeom prst="roundRect">
            <a:avLst>
              <a:gd name="adj" fmla="val 2909"/>
            </a:avLst>
          </a:prstGeom>
          <a:solidFill>
            <a:srgbClr val="F1F3F6"/>
          </a:solidFill>
          <a:ln w="12700">
            <a:solidFill>
              <a:srgbClr val="F1F3F6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9153144" y="1673352"/>
            <a:ext cx="457200" cy="457200"/>
          </a:xfrm>
          <a:prstGeom prst="ellipse">
            <a:avLst/>
          </a:prstGeom>
          <a:solidFill>
            <a:srgbClr val="1B2430"/>
          </a:solidFill>
          <a:ln w="12700">
            <a:solidFill>
              <a:srgbClr val="1B243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153144" y="16733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2A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9720072" y="1673352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Platform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9153144" y="2267712"/>
            <a:ext cx="228600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A45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Many utilities on one product: benchmarking across fleets, live sensor feeds, a model per utility, approvals built in.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548640" y="4251960"/>
            <a:ext cx="3611880" cy="1965960"/>
          </a:xfrm>
          <a:prstGeom prst="roundRect">
            <a:avLst>
              <a:gd name="adj" fmla="val 3721"/>
            </a:avLst>
          </a:prstGeom>
          <a:solidFill>
            <a:srgbClr val="F1F3F6"/>
          </a:solidFill>
          <a:ln w="12700">
            <a:solidFill>
              <a:srgbClr val="F1F3F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31520" y="4379976"/>
            <a:ext cx="3246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Who pays, and how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731520" y="4764024"/>
            <a:ext cx="32461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3A45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Utilities and large asset owners. Subscription priced per asset monitored; deployed in their environment because grid data is sensitive.</a:t>
            </a:r>
            <a:endParaRPr lang="en-US" sz="1350" dirty="0"/>
          </a:p>
        </p:txBody>
      </p:sp>
      <p:sp>
        <p:nvSpPr>
          <p:cNvPr id="32" name="Shape 30"/>
          <p:cNvSpPr/>
          <p:nvPr/>
        </p:nvSpPr>
        <p:spPr>
          <a:xfrm>
            <a:off x="4297680" y="4251960"/>
            <a:ext cx="3611880" cy="1965960"/>
          </a:xfrm>
          <a:prstGeom prst="roundRect">
            <a:avLst>
              <a:gd name="adj" fmla="val 3721"/>
            </a:avLst>
          </a:prstGeom>
          <a:solidFill>
            <a:srgbClr val="F1F3F6"/>
          </a:solidFill>
          <a:ln w="12700">
            <a:solidFill>
              <a:srgbClr val="F1F3F6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480560" y="4379976"/>
            <a:ext cx="3246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value we sell</a:t>
            </a:r>
            <a:endParaRPr lang="en-US" sz="1500" dirty="0"/>
          </a:p>
        </p:txBody>
      </p:sp>
      <p:sp>
        <p:nvSpPr>
          <p:cNvPr id="34" name="Text 32"/>
          <p:cNvSpPr/>
          <p:nvPr/>
        </p:nvSpPr>
        <p:spPr>
          <a:xfrm>
            <a:off x="4480560" y="4764024"/>
            <a:ext cx="32461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3A45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risk removed for the same budget (in our test: 20.9% vs 5.6% for replacing the oldest), fewer unplanned outages, and a defensible, auditable plan.</a:t>
            </a:r>
            <a:endParaRPr lang="en-US" sz="1350" dirty="0"/>
          </a:p>
        </p:txBody>
      </p:sp>
      <p:sp>
        <p:nvSpPr>
          <p:cNvPr id="35" name="Shape 33"/>
          <p:cNvSpPr/>
          <p:nvPr/>
        </p:nvSpPr>
        <p:spPr>
          <a:xfrm>
            <a:off x="8046720" y="4251960"/>
            <a:ext cx="3566160" cy="1965960"/>
          </a:xfrm>
          <a:prstGeom prst="roundRect">
            <a:avLst>
              <a:gd name="adj" fmla="val 3721"/>
            </a:avLst>
          </a:prstGeom>
          <a:solidFill>
            <a:srgbClr val="F1F3F6"/>
          </a:solidFill>
          <a:ln w="12700">
            <a:solidFill>
              <a:srgbClr val="F1F3F6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8229600" y="4379976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it can scale</a:t>
            </a:r>
            <a:endParaRPr lang="en-US" sz="1500" dirty="0"/>
          </a:p>
        </p:txBody>
      </p:sp>
      <p:sp>
        <p:nvSpPr>
          <p:cNvPr id="37" name="Text 35"/>
          <p:cNvSpPr/>
          <p:nvPr/>
        </p:nvSpPr>
        <p:spPr>
          <a:xfrm>
            <a:off x="8229600" y="4764024"/>
            <a:ext cx="32004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3A45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 mapping is configuration, not code; one feature function for training and serving; every plan approved by an engineer, which builds trust.</a:t>
            </a:r>
            <a:endParaRPr lang="en-US" sz="13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566928" cy="566928"/>
          </a:xfrm>
          <a:prstGeom prst="ellipse">
            <a:avLst/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8404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620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234440" y="292608"/>
            <a:ext cx="10424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With more time, we would…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1234440" y="841248"/>
            <a:ext cx="10424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6B76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Ordered by impact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48640" y="1572768"/>
            <a:ext cx="457200" cy="457200"/>
          </a:xfrm>
          <a:prstGeom prst="ellipse">
            <a:avLst/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5727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620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188720" y="1463040"/>
            <a:ext cx="4754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Ship the 4-input model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188720" y="1847088"/>
            <a:ext cx="47548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3A45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 + gas/trend/load points beat age-only in CV (0.117 vs 0.105). Re-run the held-out test once.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172200" y="1572768"/>
            <a:ext cx="457200" cy="457200"/>
          </a:xfrm>
          <a:prstGeom prst="ellipse">
            <a:avLst/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172200" y="15727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620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812280" y="1463040"/>
            <a:ext cx="4754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 failure history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812280" y="1847088"/>
            <a:ext cx="47548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3A45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Synthetic data mostly encodes age. Real outage records would give the gas signal its true weight.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48640" y="2788920"/>
            <a:ext cx="457200" cy="457200"/>
          </a:xfrm>
          <a:prstGeom prst="ellipse">
            <a:avLst/>
          </a:prstGeom>
          <a:solidFill>
            <a:srgbClr val="1B2430"/>
          </a:solidFill>
          <a:ln w="12700">
            <a:solidFill>
              <a:srgbClr val="1B243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8640" y="2788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188720" y="2679192"/>
            <a:ext cx="4754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Time-to-failure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188720" y="3063240"/>
            <a:ext cx="47548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3A45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survival model for "how many months left", not just "fails within 12 months".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6172200" y="2788920"/>
            <a:ext cx="457200" cy="457200"/>
          </a:xfrm>
          <a:prstGeom prst="ellipse">
            <a:avLst/>
          </a:prstGeom>
          <a:solidFill>
            <a:srgbClr val="1B2430"/>
          </a:solidFill>
          <a:ln w="12700">
            <a:solidFill>
              <a:srgbClr val="1B243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172200" y="2788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812280" y="2679192"/>
            <a:ext cx="4754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Inspection outcomes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6812280" y="3063240"/>
            <a:ext cx="47548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3A45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 what inspections actually find, so the value of an inspection is measured, not assumed.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548640" y="4005072"/>
            <a:ext cx="457200" cy="457200"/>
          </a:xfrm>
          <a:prstGeom prst="ellipse">
            <a:avLst/>
          </a:prstGeom>
          <a:solidFill>
            <a:srgbClr val="1B2430"/>
          </a:solidFill>
          <a:ln w="12700">
            <a:solidFill>
              <a:srgbClr val="1B243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48640" y="40050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1188720" y="3895344"/>
            <a:ext cx="4754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Incremental + Postgres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1188720" y="4279392"/>
            <a:ext cx="47548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3A45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Watermarked loads, SCD Type 2 history, nightly scoring: the scaling path on the previous slide.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6172200" y="4005072"/>
            <a:ext cx="457200" cy="457200"/>
          </a:xfrm>
          <a:prstGeom prst="ellipse">
            <a:avLst/>
          </a:prstGeom>
          <a:solidFill>
            <a:srgbClr val="1B2430"/>
          </a:solidFill>
          <a:ln w="12700">
            <a:solidFill>
              <a:srgbClr val="1B243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172200" y="40050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6812280" y="3895344"/>
            <a:ext cx="4754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Monitoring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6812280" y="4279392"/>
            <a:ext cx="47548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3A45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Drift on inputs, calibration over time, alerts when the model goes stale; retraining plan.</a:t>
            </a:r>
            <a:endParaRPr lang="en-US" sz="1250" dirty="0"/>
          </a:p>
        </p:txBody>
      </p:sp>
      <p:sp>
        <p:nvSpPr>
          <p:cNvPr id="30" name="Shape 28"/>
          <p:cNvSpPr/>
          <p:nvPr/>
        </p:nvSpPr>
        <p:spPr>
          <a:xfrm>
            <a:off x="548640" y="5221224"/>
            <a:ext cx="457200" cy="457200"/>
          </a:xfrm>
          <a:prstGeom prst="ellipse">
            <a:avLst/>
          </a:prstGeom>
          <a:solidFill>
            <a:srgbClr val="1B2430"/>
          </a:solidFill>
          <a:ln w="12700">
            <a:solidFill>
              <a:srgbClr val="1B243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48640" y="522122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1188720" y="5111496"/>
            <a:ext cx="4754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UI through the API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1188720" y="5495544"/>
            <a:ext cx="47548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3A45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serving path, authentication and roles (engineer approves, planner proposes).</a:t>
            </a:r>
            <a:endParaRPr lang="en-US" sz="1250" dirty="0"/>
          </a:p>
        </p:txBody>
      </p:sp>
      <p:sp>
        <p:nvSpPr>
          <p:cNvPr id="34" name="Shape 32"/>
          <p:cNvSpPr/>
          <p:nvPr/>
        </p:nvSpPr>
        <p:spPr>
          <a:xfrm>
            <a:off x="6172200" y="5221224"/>
            <a:ext cx="457200" cy="457200"/>
          </a:xfrm>
          <a:prstGeom prst="ellipse">
            <a:avLst/>
          </a:prstGeom>
          <a:solidFill>
            <a:srgbClr val="1B2430"/>
          </a:solidFill>
          <a:ln w="12700">
            <a:solidFill>
              <a:srgbClr val="1B243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172200" y="522122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6812280" y="5111496"/>
            <a:ext cx="4754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of a miss</a:t>
            </a:r>
            <a:endParaRPr lang="en-US" sz="1500" dirty="0"/>
          </a:p>
        </p:txBody>
      </p:sp>
      <p:sp>
        <p:nvSpPr>
          <p:cNvPr id="37" name="Text 35"/>
          <p:cNvSpPr/>
          <p:nvPr/>
        </p:nvSpPr>
        <p:spPr>
          <a:xfrm>
            <a:off x="6812280" y="5495544"/>
            <a:ext cx="47548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3A45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real outage costs per customer type instead of fixed weights; test sensitivity of the plan.</a:t>
            </a:r>
            <a:endParaRPr lang="en-US" sz="12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566928" cy="566928"/>
          </a:xfrm>
          <a:prstGeom prst="ellipse">
            <a:avLst/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8404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620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234440" y="292608"/>
            <a:ext cx="10424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Trade-offs: what we chose, what we rejected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1234440" y="841248"/>
            <a:ext cx="10424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6B76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Criterion: the simplest design that works, and why</a:t>
            </a:r>
            <a:endParaRPr lang="en-US" sz="1500" dirty="0"/>
          </a:p>
        </p:txBody>
      </p:sp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17320"/>
          <a:ext cx="11064240" cy="914400"/>
        </p:xfrm>
        <a:graphic>
          <a:graphicData uri="http://schemas.openxmlformats.org/drawingml/2006/table">
            <a:tbl>
              <a:tblPr/>
              <a:tblGrid>
                <a:gridCol w="1920240"/>
                <a:gridCol w="2468880"/>
                <a:gridCol w="2468880"/>
                <a:gridCol w="420624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Decision</a:t>
                      </a:r>
                      <a:endParaRPr lang="en-US" sz="13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4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Chose</a:t>
                      </a:r>
                      <a:endParaRPr lang="en-US" sz="13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4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Rejected</a:t>
                      </a:r>
                      <a:endParaRPr lang="en-US" sz="13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4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Why</a:t>
                      </a:r>
                      <a:endParaRPr lang="en-US" sz="13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430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A45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Pipeline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A45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medallion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A45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one script raw → model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A45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replayable, auditable; quality enforced once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A45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Gold layer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A45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star, conformed dimensions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A45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3NF / snowflake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A45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read-heavy: fewer joins win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A45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Grain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A45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quarterly snapshots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A45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monthly / yearly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A45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tests every 6–12 months: monthly = duplicates, yearly = too few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A45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Refresh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A45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full rebuild (~3 s)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A45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incremental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A45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 this size incremental only adds failure modes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A45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A45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logistic regression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A45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boosting by default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A45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few failures; readable weights; boosting didn't win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A45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Calibration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A45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Platt (sigmoid)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A45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isotonic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A45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isotonic overfits ~40 failures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A45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Inspection value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A45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uncertainty-based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A45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fixed % of risk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A45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inspection ~23× cheaper: a fixed % inspects everything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A45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UI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A45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same functions as API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A45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UI → HTTP → API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A45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one copy of the logic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A45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Packaging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A45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local run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A45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Docker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A45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panel confirmed optional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1620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09728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you: questions?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731520" y="2057400"/>
            <a:ext cx="10789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i="1" dirty="0">
                <a:solidFill>
                  <a:srgbClr val="F2A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Leakage-safe by design · honest about uncertainty · every decision explained and approved by a person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731520" y="3108960"/>
            <a:ext cx="65836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D7DE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pip install -r requirements.txt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D7DE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 -m src.pipeline      # bronze → silver → gold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D7DE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 -m src.model         # train + evaluate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D7DE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uvicorn src.api:app         # API  :8000/docs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D7DE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streamlit run ui/app.py     # UI   :8501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498080" y="3108960"/>
            <a:ext cx="42062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350" dirty="0">
                <a:solidFill>
                  <a:srgbClr val="AEB7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Unique0202: architecture, pipeline, features, loader, UI, README</a:t>
            </a:r>
            <a:endParaRPr lang="en-US" sz="135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350" dirty="0">
                <a:solidFill>
                  <a:srgbClr val="AEB7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sreerajmahesh: synthetic data, FastAPI service</a:t>
            </a:r>
            <a:endParaRPr lang="en-US" sz="135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350" dirty="0">
                <a:solidFill>
                  <a:srgbClr val="AEB7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abinavhub: models, validation, calibration, plan</a:t>
            </a:r>
            <a:endParaRPr lang="en-US" sz="13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Transformer Fleet Health &amp; Replacement Planning</dc:title>
  <dc:subject>PptxGenJS Presentation</dc:subject>
  <dc:creator>PptxGenJS</dc:creator>
  <cp:lastModifiedBy>PptxGenJS</cp:lastModifiedBy>
  <cp:revision>1</cp:revision>
  <dcterms:created xsi:type="dcterms:W3CDTF">2026-10-11T11:29:34Z</dcterms:created>
  <dcterms:modified xsi:type="dcterms:W3CDTF">2026-10-11T11:29:34Z</dcterms:modified>
</cp:coreProperties>
</file>